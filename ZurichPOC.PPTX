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7" r:id="rId6"/>
    <p:sldId id="260" r:id="rId7"/>
    <p:sldId id="261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03BB-F3EE-4ACC-B820-374D2EA482F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ED57A-A6CE-4F89-B0F5-0CE321AD8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03BB-F3EE-4ACC-B820-374D2EA482F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ED57A-A6CE-4F89-B0F5-0CE321AD8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05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03BB-F3EE-4ACC-B820-374D2EA482F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ED57A-A6CE-4F89-B0F5-0CE321AD8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66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03BB-F3EE-4ACC-B820-374D2EA482F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ED57A-A6CE-4F89-B0F5-0CE321AD8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6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03BB-F3EE-4ACC-B820-374D2EA482F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ED57A-A6CE-4F89-B0F5-0CE321AD8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49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03BB-F3EE-4ACC-B820-374D2EA482F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ED57A-A6CE-4F89-B0F5-0CE321AD8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11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03BB-F3EE-4ACC-B820-374D2EA482F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ED57A-A6CE-4F89-B0F5-0CE321AD8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856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03BB-F3EE-4ACC-B820-374D2EA482F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ED57A-A6CE-4F89-B0F5-0CE321AD8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07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03BB-F3EE-4ACC-B820-374D2EA482F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ED57A-A6CE-4F89-B0F5-0CE321AD8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05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03BB-F3EE-4ACC-B820-374D2EA482F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ED57A-A6CE-4F89-B0F5-0CE321AD8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3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03BB-F3EE-4ACC-B820-374D2EA482F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ED57A-A6CE-4F89-B0F5-0CE321AD8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43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003BB-F3EE-4ACC-B820-374D2EA482F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ED57A-A6CE-4F89-B0F5-0CE321AD8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56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Existing Response highlights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DLT network with 3 nodes ( Zurich, Broker, TPA)</a:t>
            </a:r>
          </a:p>
          <a:p>
            <a:r>
              <a:rPr lang="en-US" dirty="0" smtClean="0"/>
              <a:t>3.5 months of Schedule with 7 Resources</a:t>
            </a:r>
          </a:p>
          <a:p>
            <a:r>
              <a:rPr lang="en-US" dirty="0" smtClean="0"/>
              <a:t>DLT technical evaluation of the business concept in abstract</a:t>
            </a:r>
          </a:p>
          <a:p>
            <a:r>
              <a:rPr lang="en-US" dirty="0" smtClean="0"/>
              <a:t>Simple functional flow considering Data ingestion, validation and cleansing.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303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Expectations out of current workshop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Detailed functional flow involving the sub-systems involved</a:t>
            </a:r>
          </a:p>
          <a:p>
            <a:r>
              <a:rPr lang="en-US" dirty="0" smtClean="0"/>
              <a:t>Expectations to accommodate the organization structural changes </a:t>
            </a:r>
          </a:p>
          <a:p>
            <a:r>
              <a:rPr lang="en-US" dirty="0" smtClean="0"/>
              <a:t>Expectations of the inter-department flows and the co-ordination on Blockchain network ( within Zurich)</a:t>
            </a:r>
          </a:p>
          <a:p>
            <a:r>
              <a:rPr lang="en-US" dirty="0" smtClean="0"/>
              <a:t>Integration with the Zurich application ecosystem</a:t>
            </a:r>
          </a:p>
          <a:p>
            <a:r>
              <a:rPr lang="en-US" dirty="0" smtClean="0"/>
              <a:t>Regional units of the organization</a:t>
            </a:r>
          </a:p>
          <a:p>
            <a:r>
              <a:rPr lang="en-US" dirty="0" smtClean="0"/>
              <a:t>Future state vision about the platform/integration/governance needs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854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Gaps identified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Broker Role needs to be confirmed for POC</a:t>
            </a:r>
          </a:p>
          <a:p>
            <a:r>
              <a:rPr lang="en-US" dirty="0" smtClean="0"/>
              <a:t>TPA role need to be confirmed</a:t>
            </a:r>
          </a:p>
          <a:p>
            <a:r>
              <a:rPr lang="en-US" dirty="0" smtClean="0"/>
              <a:t>Earlier the Regional scope was assumed, how do we want to define the regional needs in the POC</a:t>
            </a:r>
          </a:p>
          <a:p>
            <a:r>
              <a:rPr lang="en-US" dirty="0" smtClean="0"/>
              <a:t>Functional flow from the previous response and the workshop slides are considerably different</a:t>
            </a:r>
          </a:p>
          <a:p>
            <a:r>
              <a:rPr lang="en-US" dirty="0" smtClean="0"/>
              <a:t>Previous scope was with only Organization level node where the internal departments were not being considered for clients</a:t>
            </a:r>
          </a:p>
          <a:p>
            <a:r>
              <a:rPr lang="en-US" dirty="0" smtClean="0"/>
              <a:t>Big picture of the business was not considered</a:t>
            </a:r>
          </a:p>
          <a:p>
            <a:r>
              <a:rPr lang="en-US" dirty="0" smtClean="0"/>
              <a:t>Blockchain integration with the application / platform eco-system was not considered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1" y="6311900"/>
            <a:ext cx="645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*Note: Based on the verbal as well as from the documents received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182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0568"/>
            <a:ext cx="10780059" cy="586636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Questions which will help to define new scope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2236"/>
            <a:ext cx="10515600" cy="5471645"/>
          </a:xfrm>
        </p:spPr>
        <p:txBody>
          <a:bodyPr>
            <a:normAutofit lnSpcReduction="10000"/>
          </a:bodyPr>
          <a:lstStyle/>
          <a:p>
            <a:r>
              <a:rPr lang="en-US" sz="1600" dirty="0" smtClean="0"/>
              <a:t>Which business roles will be qualified to become a Node on the network ?( organizations like Zurich, nestle, broker , TPA or the departments within the organizations also)</a:t>
            </a:r>
          </a:p>
          <a:p>
            <a:r>
              <a:rPr lang="en-US" sz="1600" dirty="0" smtClean="0"/>
              <a:t>Is there any regional / country specific organization that should be qualified for a full node?</a:t>
            </a:r>
          </a:p>
          <a:p>
            <a:endParaRPr lang="en-US" sz="1600" dirty="0" smtClean="0"/>
          </a:p>
          <a:p>
            <a:r>
              <a:rPr lang="en-US" sz="1600" dirty="0" smtClean="0"/>
              <a:t>Do we have any organization level /HQ related data that we do not want to share with the regional /local offices of the same organization?</a:t>
            </a:r>
          </a:p>
          <a:p>
            <a:r>
              <a:rPr lang="en-US" sz="1600" dirty="0" smtClean="0"/>
              <a:t>Do we want to keep the regional data separate for the organizations and non sharable?</a:t>
            </a:r>
          </a:p>
          <a:p>
            <a:r>
              <a:rPr lang="en-US" sz="1600" dirty="0" smtClean="0"/>
              <a:t>At what level the organization wants to share the data, between HQ and local within a region or open to all region</a:t>
            </a:r>
          </a:p>
          <a:p>
            <a:endParaRPr lang="en-US" sz="1600" dirty="0" smtClean="0"/>
          </a:p>
          <a:p>
            <a:r>
              <a:rPr lang="en-US" sz="1600" dirty="0" smtClean="0"/>
              <a:t>Can we categorize the public data vs sensitive data getting shared on the ledger ?</a:t>
            </a:r>
          </a:p>
          <a:p>
            <a:r>
              <a:rPr lang="en-US" sz="1600" dirty="0" smtClean="0"/>
              <a:t>Do we want to share the sensitive data to other organization even when its not possible to view it, or we do not want to share the data itself?</a:t>
            </a:r>
          </a:p>
          <a:p>
            <a:endParaRPr lang="en-US" sz="1600" dirty="0" smtClean="0"/>
          </a:p>
          <a:p>
            <a:r>
              <a:rPr lang="en-US" sz="1600" dirty="0" smtClean="0"/>
              <a:t>Are we expecting to replace any existing flow, applications / systems that are being used perform the functional workflows?</a:t>
            </a:r>
          </a:p>
          <a:p>
            <a:endParaRPr lang="en-US" sz="1600" dirty="0" smtClean="0"/>
          </a:p>
          <a:p>
            <a:r>
              <a:rPr lang="en-US" sz="1600" dirty="0" smtClean="0"/>
              <a:t>Do </a:t>
            </a:r>
            <a:r>
              <a:rPr lang="en-US" sz="1600" dirty="0"/>
              <a:t>all parties needs to agree to give their consent on the data that is being process as a mandatory thing or only few specific parties can provide the confirmation</a:t>
            </a:r>
            <a:endParaRPr lang="en-US" sz="1600" dirty="0" smtClean="0"/>
          </a:p>
          <a:p>
            <a:endParaRPr lang="en-US" sz="1600" dirty="0" smtClean="0"/>
          </a:p>
          <a:p>
            <a:pPr marL="0" indent="0">
              <a:buNone/>
            </a:pPr>
            <a:endParaRPr lang="en-US" sz="1600" dirty="0" smtClean="0"/>
          </a:p>
          <a:p>
            <a:endParaRPr lang="en-US" sz="1600" dirty="0" smtClean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248134" y="870444"/>
            <a:ext cx="1147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Members: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48134" y="1934369"/>
            <a:ext cx="1422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 sharing: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8134" y="3610769"/>
            <a:ext cx="1359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Permissions: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48134" y="4555985"/>
            <a:ext cx="2245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Functional disruption: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48134" y="5501201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Consensus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45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297" y="2528222"/>
            <a:ext cx="10515600" cy="1325563"/>
          </a:xfrm>
        </p:spPr>
        <p:txBody>
          <a:bodyPr/>
          <a:lstStyle/>
          <a:p>
            <a:r>
              <a:rPr lang="en-US" dirty="0" smtClean="0"/>
              <a:t>Network topologies to consider while defining the scope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951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ed Rectangle 52"/>
          <p:cNvSpPr/>
          <p:nvPr/>
        </p:nvSpPr>
        <p:spPr>
          <a:xfrm>
            <a:off x="769374" y="4610702"/>
            <a:ext cx="11198508" cy="1156529"/>
          </a:xfrm>
          <a:prstGeom prst="roundRect">
            <a:avLst/>
          </a:prstGeom>
          <a:ln w="25400">
            <a:solidFill>
              <a:srgbClr val="FF0000"/>
            </a:solidFill>
            <a:prstDash val="dash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707921" y="3002516"/>
            <a:ext cx="11259961" cy="1156529"/>
          </a:xfrm>
          <a:prstGeom prst="roundRect">
            <a:avLst/>
          </a:prstGeom>
          <a:ln w="25400">
            <a:solidFill>
              <a:srgbClr val="FF0000"/>
            </a:solidFill>
            <a:prstDash val="dash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07922" y="1029933"/>
            <a:ext cx="11259960" cy="1693603"/>
          </a:xfrm>
          <a:prstGeom prst="roundRect">
            <a:avLst/>
          </a:prstGeom>
          <a:ln w="25400">
            <a:solidFill>
              <a:srgbClr val="FF0000"/>
            </a:solidFill>
            <a:prstDash val="dash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83231" y="1209367"/>
            <a:ext cx="2797272" cy="530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Zurich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1002897" y="2010689"/>
            <a:ext cx="1292938" cy="5407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HQ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039038" y="3308543"/>
            <a:ext cx="1292938" cy="5407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96468" y="1209367"/>
            <a:ext cx="2797272" cy="53094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Nestle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01391" y="2010689"/>
            <a:ext cx="1268357" cy="5407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HQ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53963" y="3308545"/>
            <a:ext cx="1268357" cy="5407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809708" y="1209367"/>
            <a:ext cx="2797272" cy="5309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Broker/TPA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819548" y="2010689"/>
            <a:ext cx="1268357" cy="5407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HQ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829953" y="3308544"/>
            <a:ext cx="1268357" cy="5407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/>
          <p:cNvCxnSpPr>
            <a:endCxn id="13" idx="0"/>
          </p:cNvCxnSpPr>
          <p:nvPr/>
        </p:nvCxnSpPr>
        <p:spPr>
          <a:xfrm flipH="1">
            <a:off x="1649366" y="1740310"/>
            <a:ext cx="2455" cy="27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15" idx="0"/>
          </p:cNvCxnSpPr>
          <p:nvPr/>
        </p:nvCxnSpPr>
        <p:spPr>
          <a:xfrm flipH="1">
            <a:off x="2685507" y="1740309"/>
            <a:ext cx="1" cy="1568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520822" y="1740310"/>
            <a:ext cx="2455" cy="27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6497975" y="1740309"/>
            <a:ext cx="1" cy="1568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9483220" y="1740310"/>
            <a:ext cx="2455" cy="27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10523123" y="1740309"/>
            <a:ext cx="1" cy="1568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863643" y="5034104"/>
            <a:ext cx="1292938" cy="5407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678564" y="5034106"/>
            <a:ext cx="1268357" cy="5407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591804" y="5034105"/>
            <a:ext cx="1268357" cy="5407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>
            <a:endCxn id="39" idx="0"/>
          </p:cNvCxnSpPr>
          <p:nvPr/>
        </p:nvCxnSpPr>
        <p:spPr>
          <a:xfrm flipH="1">
            <a:off x="3510112" y="1755067"/>
            <a:ext cx="9836" cy="3279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7315200" y="1740307"/>
            <a:ext cx="7377" cy="3293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11257935" y="1740309"/>
            <a:ext cx="27040" cy="3293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45573" y="3693824"/>
            <a:ext cx="1533840" cy="38895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Country 1 </a:t>
            </a:r>
            <a:r>
              <a:rPr lang="en-US" sz="1400" dirty="0" smtClean="0">
                <a:solidFill>
                  <a:schemeClr val="tx1"/>
                </a:solidFill>
              </a:rPr>
              <a:t>N/W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345573" y="5304491"/>
            <a:ext cx="1533840" cy="38895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Country 2 </a:t>
            </a:r>
            <a:r>
              <a:rPr lang="en-US" sz="1400" dirty="0" smtClean="0">
                <a:solidFill>
                  <a:schemeClr val="tx1"/>
                </a:solidFill>
              </a:rPr>
              <a:t>N/W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34471" y="175457"/>
            <a:ext cx="11949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Each country specific network to have its own data not shared with other countries even within same organization</a:t>
            </a:r>
            <a:endParaRPr lang="en-US" sz="2000" dirty="0"/>
          </a:p>
        </p:txBody>
      </p:sp>
      <p:sp>
        <p:nvSpPr>
          <p:cNvPr id="57" name="Left-Right Arrow 56"/>
          <p:cNvSpPr/>
          <p:nvPr/>
        </p:nvSpPr>
        <p:spPr>
          <a:xfrm>
            <a:off x="3910094" y="2569070"/>
            <a:ext cx="3155066" cy="342431"/>
          </a:xfrm>
          <a:prstGeom prst="left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Data Sharing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8" name="Left-Right Arrow 57"/>
          <p:cNvSpPr/>
          <p:nvPr/>
        </p:nvSpPr>
        <p:spPr>
          <a:xfrm>
            <a:off x="3910094" y="3984133"/>
            <a:ext cx="3155066" cy="342431"/>
          </a:xfrm>
          <a:prstGeom prst="left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Data Sharing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9" name="Left-Right Arrow 58"/>
          <p:cNvSpPr/>
          <p:nvPr/>
        </p:nvSpPr>
        <p:spPr>
          <a:xfrm>
            <a:off x="3910094" y="5596015"/>
            <a:ext cx="3155066" cy="342431"/>
          </a:xfrm>
          <a:prstGeom prst="left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Data Sharing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24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le 44"/>
          <p:cNvSpPr/>
          <p:nvPr/>
        </p:nvSpPr>
        <p:spPr>
          <a:xfrm>
            <a:off x="8577265" y="849447"/>
            <a:ext cx="3286439" cy="1879188"/>
          </a:xfrm>
          <a:prstGeom prst="round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4515314" y="849447"/>
            <a:ext cx="3286439" cy="1879188"/>
          </a:xfrm>
          <a:prstGeom prst="round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635330" y="881594"/>
            <a:ext cx="3286439" cy="1879188"/>
          </a:xfrm>
          <a:prstGeom prst="round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769374" y="4610702"/>
            <a:ext cx="11198508" cy="1156529"/>
          </a:xfrm>
          <a:prstGeom prst="roundRect">
            <a:avLst/>
          </a:prstGeom>
          <a:ln w="25400">
            <a:solidFill>
              <a:srgbClr val="FF0000"/>
            </a:solidFill>
            <a:prstDash val="dash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707921" y="3002516"/>
            <a:ext cx="11259961" cy="1156529"/>
          </a:xfrm>
          <a:prstGeom prst="roundRect">
            <a:avLst/>
          </a:prstGeom>
          <a:ln w="25400">
            <a:solidFill>
              <a:srgbClr val="FF0000"/>
            </a:solidFill>
            <a:prstDash val="dash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83231" y="1209367"/>
            <a:ext cx="2797272" cy="530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Zurich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1002897" y="2010689"/>
            <a:ext cx="1292938" cy="5407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HQ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039038" y="3308543"/>
            <a:ext cx="1292938" cy="5407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96468" y="1209367"/>
            <a:ext cx="2797272" cy="53094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Nestle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01391" y="2010689"/>
            <a:ext cx="1268357" cy="5407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HQ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53963" y="3308545"/>
            <a:ext cx="1268357" cy="5407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809708" y="1209367"/>
            <a:ext cx="2797272" cy="5309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Broker/TPA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819548" y="2010689"/>
            <a:ext cx="1268357" cy="5407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HQ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829953" y="3308544"/>
            <a:ext cx="1268357" cy="5407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/>
          <p:cNvCxnSpPr>
            <a:endCxn id="13" idx="0"/>
          </p:cNvCxnSpPr>
          <p:nvPr/>
        </p:nvCxnSpPr>
        <p:spPr>
          <a:xfrm flipH="1">
            <a:off x="1649366" y="1740310"/>
            <a:ext cx="2455" cy="27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15" idx="0"/>
          </p:cNvCxnSpPr>
          <p:nvPr/>
        </p:nvCxnSpPr>
        <p:spPr>
          <a:xfrm flipH="1">
            <a:off x="2685507" y="1740309"/>
            <a:ext cx="1" cy="1568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520822" y="1740310"/>
            <a:ext cx="2455" cy="27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6497975" y="1740309"/>
            <a:ext cx="1" cy="1568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9483220" y="1740310"/>
            <a:ext cx="2455" cy="27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10523123" y="1740309"/>
            <a:ext cx="1" cy="1568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863643" y="5034105"/>
            <a:ext cx="1292938" cy="3906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678564" y="5034107"/>
            <a:ext cx="1268357" cy="3906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591804" y="5034106"/>
            <a:ext cx="1268357" cy="3906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>
            <a:endCxn id="39" idx="0"/>
          </p:cNvCxnSpPr>
          <p:nvPr/>
        </p:nvCxnSpPr>
        <p:spPr>
          <a:xfrm flipH="1">
            <a:off x="3510112" y="1755067"/>
            <a:ext cx="9836" cy="3279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40" idx="0"/>
          </p:cNvCxnSpPr>
          <p:nvPr/>
        </p:nvCxnSpPr>
        <p:spPr>
          <a:xfrm flipH="1">
            <a:off x="7312743" y="1740307"/>
            <a:ext cx="2457" cy="3293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41" idx="0"/>
          </p:cNvCxnSpPr>
          <p:nvPr/>
        </p:nvCxnSpPr>
        <p:spPr>
          <a:xfrm flipH="1">
            <a:off x="11225983" y="1740309"/>
            <a:ext cx="31952" cy="3293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45573" y="3693824"/>
            <a:ext cx="1533840" cy="38895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Country 1 </a:t>
            </a:r>
            <a:r>
              <a:rPr lang="en-US" sz="1400" dirty="0" smtClean="0">
                <a:solidFill>
                  <a:schemeClr val="tx1"/>
                </a:solidFill>
              </a:rPr>
              <a:t>N/W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345573" y="5304491"/>
            <a:ext cx="1533840" cy="38895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Country 2 </a:t>
            </a:r>
            <a:r>
              <a:rPr lang="en-US" sz="1400" dirty="0" smtClean="0">
                <a:solidFill>
                  <a:schemeClr val="tx1"/>
                </a:solidFill>
              </a:rPr>
              <a:t>N/W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33082" y="175457"/>
            <a:ext cx="1173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HQ will not be able to share any private data with other HQs without being visible to Local</a:t>
            </a:r>
            <a:endParaRPr lang="en-US" sz="2000" dirty="0"/>
          </a:p>
        </p:txBody>
      </p:sp>
      <p:sp>
        <p:nvSpPr>
          <p:cNvPr id="2" name="Left-Right Arrow 1"/>
          <p:cNvSpPr/>
          <p:nvPr/>
        </p:nvSpPr>
        <p:spPr>
          <a:xfrm>
            <a:off x="3910094" y="3984133"/>
            <a:ext cx="3155066" cy="342431"/>
          </a:xfrm>
          <a:prstGeom prst="left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Data Sharing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1" name="Left-Right Arrow 30"/>
          <p:cNvSpPr/>
          <p:nvPr/>
        </p:nvSpPr>
        <p:spPr>
          <a:xfrm>
            <a:off x="3943289" y="5596015"/>
            <a:ext cx="3155066" cy="342431"/>
          </a:xfrm>
          <a:prstGeom prst="left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Data Sharing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7" name="Flowchart: Multidocument 6"/>
          <p:cNvSpPr/>
          <p:nvPr/>
        </p:nvSpPr>
        <p:spPr>
          <a:xfrm rot="5400000" flipH="1" flipV="1">
            <a:off x="2756577" y="2071001"/>
            <a:ext cx="534243" cy="485480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93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77239" y="845583"/>
            <a:ext cx="11696774" cy="1818968"/>
          </a:xfrm>
          <a:prstGeom prst="roundRect">
            <a:avLst/>
          </a:prstGeom>
          <a:ln w="25400">
            <a:solidFill>
              <a:srgbClr val="FF0000"/>
            </a:solidFill>
            <a:prstDash val="lgDash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8355184" y="1144414"/>
            <a:ext cx="3592165" cy="4705780"/>
          </a:xfrm>
          <a:prstGeom prst="roundRect">
            <a:avLst/>
          </a:prstGeom>
          <a:ln w="12700">
            <a:solidFill>
              <a:schemeClr val="tx1"/>
            </a:solidFill>
            <a:prstDash val="dash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/>
          <p:cNvSpPr/>
          <p:nvPr/>
        </p:nvSpPr>
        <p:spPr>
          <a:xfrm>
            <a:off x="4544460" y="1144414"/>
            <a:ext cx="3522904" cy="4705780"/>
          </a:xfrm>
          <a:prstGeom prst="roundRect">
            <a:avLst/>
          </a:prstGeom>
          <a:ln w="12700">
            <a:solidFill>
              <a:schemeClr val="tx1"/>
            </a:solidFill>
            <a:prstDash val="dash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550606" y="1144415"/>
            <a:ext cx="3665628" cy="4705779"/>
          </a:xfrm>
          <a:prstGeom prst="roundRect">
            <a:avLst/>
          </a:prstGeom>
          <a:ln w="12700">
            <a:solidFill>
              <a:schemeClr val="tx1"/>
            </a:solidFill>
            <a:prstDash val="dash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83231" y="1209367"/>
            <a:ext cx="2797272" cy="530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Zurich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1002897" y="2010689"/>
            <a:ext cx="1292938" cy="5407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HQ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039038" y="3308543"/>
            <a:ext cx="1292938" cy="5407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96468" y="1209367"/>
            <a:ext cx="2797272" cy="53094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Nestle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01391" y="2010689"/>
            <a:ext cx="1268357" cy="5407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HQ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53963" y="3308545"/>
            <a:ext cx="1268357" cy="5407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809708" y="1209367"/>
            <a:ext cx="2797272" cy="5309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Broker/TPA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819548" y="2010689"/>
            <a:ext cx="1268357" cy="5407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HQ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829953" y="3308544"/>
            <a:ext cx="1268357" cy="5407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/>
          <p:cNvCxnSpPr>
            <a:endCxn id="13" idx="0"/>
          </p:cNvCxnSpPr>
          <p:nvPr/>
        </p:nvCxnSpPr>
        <p:spPr>
          <a:xfrm flipH="1">
            <a:off x="1649366" y="1740310"/>
            <a:ext cx="2455" cy="27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15" idx="0"/>
          </p:cNvCxnSpPr>
          <p:nvPr/>
        </p:nvCxnSpPr>
        <p:spPr>
          <a:xfrm flipH="1">
            <a:off x="2685507" y="1740309"/>
            <a:ext cx="1" cy="1568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520822" y="1740310"/>
            <a:ext cx="2455" cy="27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6497975" y="1740309"/>
            <a:ext cx="1" cy="1568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9483220" y="1740310"/>
            <a:ext cx="2455" cy="27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10523123" y="1740309"/>
            <a:ext cx="1" cy="1568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863643" y="5034105"/>
            <a:ext cx="1292938" cy="3906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678564" y="5034107"/>
            <a:ext cx="1268357" cy="3906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591804" y="5034106"/>
            <a:ext cx="1268357" cy="3906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>
            <a:endCxn id="39" idx="0"/>
          </p:cNvCxnSpPr>
          <p:nvPr/>
        </p:nvCxnSpPr>
        <p:spPr>
          <a:xfrm flipH="1">
            <a:off x="3510112" y="1755067"/>
            <a:ext cx="9836" cy="3279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40" idx="0"/>
          </p:cNvCxnSpPr>
          <p:nvPr/>
        </p:nvCxnSpPr>
        <p:spPr>
          <a:xfrm flipH="1">
            <a:off x="7312743" y="1740307"/>
            <a:ext cx="2457" cy="3293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41" idx="0"/>
          </p:cNvCxnSpPr>
          <p:nvPr/>
        </p:nvCxnSpPr>
        <p:spPr>
          <a:xfrm flipH="1">
            <a:off x="11225983" y="1740309"/>
            <a:ext cx="31952" cy="3293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33082" y="175457"/>
            <a:ext cx="1173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Only HQs can be part of the network and each local to have only specific permissions to data</a:t>
            </a:r>
            <a:endParaRPr lang="en-US" sz="2000" dirty="0"/>
          </a:p>
        </p:txBody>
      </p:sp>
      <p:sp>
        <p:nvSpPr>
          <p:cNvPr id="7" name="Flowchart: Multidocument 6"/>
          <p:cNvSpPr/>
          <p:nvPr/>
        </p:nvSpPr>
        <p:spPr>
          <a:xfrm rot="5400000" flipH="1" flipV="1">
            <a:off x="2756577" y="2071001"/>
            <a:ext cx="534243" cy="485480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619432" y="2659617"/>
            <a:ext cx="11149781" cy="59011"/>
          </a:xfrm>
          <a:prstGeom prst="line">
            <a:avLst/>
          </a:prstGeom>
          <a:ln w="254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Up-Down Arrow 7"/>
          <p:cNvSpPr/>
          <p:nvPr/>
        </p:nvSpPr>
        <p:spPr>
          <a:xfrm>
            <a:off x="635492" y="2246652"/>
            <a:ext cx="308414" cy="3077497"/>
          </a:xfrm>
          <a:prstGeom prst="upDown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Permissions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9" name="Up-Down Arrow 48"/>
          <p:cNvSpPr/>
          <p:nvPr/>
        </p:nvSpPr>
        <p:spPr>
          <a:xfrm>
            <a:off x="4583071" y="2347304"/>
            <a:ext cx="308414" cy="3077497"/>
          </a:xfrm>
          <a:prstGeom prst="upDown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Permissions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" name="Up-Down Arrow 49"/>
          <p:cNvSpPr/>
          <p:nvPr/>
        </p:nvSpPr>
        <p:spPr>
          <a:xfrm>
            <a:off x="8447298" y="2347303"/>
            <a:ext cx="308414" cy="3077497"/>
          </a:xfrm>
          <a:prstGeom prst="upDown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Permissions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" name="Left-Right Arrow 50"/>
          <p:cNvSpPr/>
          <p:nvPr/>
        </p:nvSpPr>
        <p:spPr>
          <a:xfrm>
            <a:off x="4401707" y="662075"/>
            <a:ext cx="3155066" cy="342431"/>
          </a:xfrm>
          <a:prstGeom prst="left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Data Sharing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258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1609</TotalTime>
  <Words>549</Words>
  <Application>Microsoft Office PowerPoint</Application>
  <PresentationFormat>Widescreen</PresentationFormat>
  <Paragraphs>99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Existing Response highlights</vt:lpstr>
      <vt:lpstr>Expectations out of current workshop</vt:lpstr>
      <vt:lpstr>Gaps identified</vt:lpstr>
      <vt:lpstr>Questions which will help to define new scope</vt:lpstr>
      <vt:lpstr>Network topologies to consider while defining the scope</vt:lpstr>
      <vt:lpstr>PowerPoint Presentation</vt:lpstr>
      <vt:lpstr>PowerPoint Presentation</vt:lpstr>
      <vt:lpstr>PowerPoint Presentation</vt:lpstr>
    </vt:vector>
  </TitlesOfParts>
  <Company>Capgemini GCC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Khandebharad, Purushottam</dc:creator>
  <cp:lastModifiedBy>Khandebharad, Purushottam</cp:lastModifiedBy>
  <cp:revision>30</cp:revision>
  <dcterms:created xsi:type="dcterms:W3CDTF">2018-01-15T12:47:47Z</dcterms:created>
  <dcterms:modified xsi:type="dcterms:W3CDTF">2018-01-16T15:45:35Z</dcterms:modified>
</cp:coreProperties>
</file>